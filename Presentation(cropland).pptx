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77" r:id="rId6"/>
    <p:sldId id="268" r:id="rId7"/>
    <p:sldId id="279" r:id="rId8"/>
    <p:sldId id="280" r:id="rId9"/>
    <p:sldId id="262" r:id="rId10"/>
    <p:sldId id="278" r:id="rId11"/>
    <p:sldId id="275" r:id="rId12"/>
    <p:sldId id="266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B0514-F84F-46FA-973B-7F013ADA6A04}" v="59" dt="2025-08-11T20:12:49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598" autoAdjust="0"/>
  </p:normalViewPr>
  <p:slideViewPr>
    <p:cSldViewPr snapToGrid="0">
      <p:cViewPr varScale="1">
        <p:scale>
          <a:sx n="97" d="100"/>
          <a:sy n="97" d="100"/>
        </p:scale>
        <p:origin x="498" y="96"/>
      </p:cViewPr>
      <p:guideLst>
        <p:guide orient="horz" pos="30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580E-BB12-458A-8A67-A4E85A97E57A}" type="datetimeFigureOut">
              <a:rPr lang="en-US" smtClean="0"/>
              <a:t>8/13/2025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85773-E831-40C3-B08E-FE9BDAA69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5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E162AE6-C2BA-4446-A2D9-41A8F1A6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A267802-5F0D-4EE1-AF9D-EF2E4F23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5" y="0"/>
            <a:ext cx="43861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728D93-929A-4CAF-A102-3C217E91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</a:lstStyle>
          <a:p>
            <a:pPr>
              <a:tabLst>
                <a:tab pos="3370263" algn="l"/>
              </a:tabLst>
            </a:pPr>
            <a:endParaRPr lang="en-US" sz="4000" dirty="0">
              <a:solidFill>
                <a:schemeClr val="tx2">
                  <a:alpha val="75000"/>
                </a:schemeClr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81702E9-0038-4210-9FAB-E76C1EF85C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4876" y="5116529"/>
            <a:ext cx="2948684" cy="955497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E1655C-FA7C-42D9-8EE1-E7CF698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47479" y="3853642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441E9C-E7AE-4B2E-A8FF-F364980D9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3024" y="0"/>
            <a:ext cx="7808976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8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0" userDrawn="1">
          <p15:clr>
            <a:srgbClr val="FBAE40"/>
          </p15:clr>
        </p15:guide>
        <p15:guide id="2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5A6970-043A-47D8-B545-755078B0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6AC1DD3-428F-4C39-A551-E13ABD51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</p:spPr>
        <p:txBody>
          <a:bodyPr>
            <a:normAutofit/>
          </a:bodyPr>
          <a:lstStyle/>
          <a:p>
            <a:pPr algn="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61C8BF-A13F-41C7-AD96-FF1FF2487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44305"/>
            <a:ext cx="0" cy="1610436"/>
          </a:xfrm>
          <a:prstGeom prst="line">
            <a:avLst/>
          </a:prstGeom>
          <a:ln w="19050">
            <a:solidFill>
              <a:schemeClr val="accent1">
                <a:lumMod val="7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8B2C18-58F4-4964-8F53-1A6C5CA46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647700"/>
            <a:ext cx="6401231" cy="2982604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AF7978-E274-4580-9576-25C42D06B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512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26149A3-CFBC-4F7F-B065-171177885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16041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47CA6D41-6659-4919-BF3F-FCA2AB53F4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457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E6777B-4AD1-427E-904E-21086E7318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310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E0D4C96-36DA-4C90-B4F7-FD78F9F0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CC27624-76B0-4BB8-B6D9-C01BCCE6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5D71582-7D60-491E-945E-00A9A6A2E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283E6C1-A698-44ED-B112-2185C527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8DA9715-F69D-45C0-8C20-D2327172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 wrap="none" anchor="ctr">
            <a:noAutofit/>
          </a:bodyPr>
          <a:lstStyle>
            <a:lvl1pPr algn="l">
              <a:spcBef>
                <a:spcPts val="0"/>
              </a:spcBef>
              <a:defRPr baseline="0"/>
            </a:lvl1pPr>
          </a:lstStyle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11834F-2E86-44CF-9B7B-879C54D3E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069" y="1900962"/>
            <a:ext cx="10292340" cy="1954213"/>
          </a:xfrm>
        </p:spPr>
        <p:txBody>
          <a:bodyPr anchor="t"/>
          <a:lstStyle>
            <a:lvl1pPr marL="0" indent="0" algn="just">
              <a:buNone/>
              <a:defRPr baseline="0"/>
            </a:lvl1pPr>
            <a:lvl2pPr marL="274320" indent="0" algn="ctr">
              <a:buFont typeface="Arial" panose="020B0604020202020204" pitchFamily="34" charset="0"/>
              <a:buNone/>
              <a:defRPr/>
            </a:lvl2pPr>
            <a:lvl3pPr marL="228600" indent="0" algn="ctr">
              <a:buNone/>
              <a:defRPr/>
            </a:lvl3pPr>
            <a:lvl4pPr marL="640080" indent="0" algn="ctr">
              <a:buFont typeface="Arial" panose="020B0604020202020204" pitchFamily="34" charset="0"/>
              <a:buNone/>
              <a:defRPr/>
            </a:lvl4pPr>
            <a:lvl5pPr marL="685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6B13C98-6A68-488A-A861-3651BEFFD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60520"/>
            <a:ext cx="4067175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938ABF9-B914-4702-BD3C-440D785C4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8DDEC8E-7A5B-45B1-87C2-928F65F6D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9936" y="4160520"/>
            <a:ext cx="4133088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D694128-BF72-4548-B72F-CAFBFD234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E558F1D-66DC-426F-B815-D10EB6BC4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4" y="4160520"/>
            <a:ext cx="4005072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C1452B-8D51-4F49-9A26-8D49BCE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50899" y="1555564"/>
            <a:ext cx="4290204" cy="0"/>
          </a:xfrm>
          <a:prstGeom prst="line">
            <a:avLst/>
          </a:prstGeom>
          <a:ln w="19050">
            <a:solidFill>
              <a:schemeClr val="accen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8719BE9-7631-4214-B581-04437DDA5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AF1EB8-173E-4BDF-9FB9-340DC5FC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4A6C40-5A2B-4859-A8AE-52464ACB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5059252"/>
            <a:ext cx="6874327" cy="1209275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r"/>
            <a:endParaRPr lang="en-US" sz="4000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839C935-8C88-4E41-9CDE-772FDA3D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70" y="5056632"/>
            <a:ext cx="3392445" cy="1207008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endParaRPr lang="en-US" sz="1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C6FCBF-78C9-4160-8C8D-C0846C6D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10499" y="5187442"/>
            <a:ext cx="0" cy="875607"/>
          </a:xfrm>
          <a:prstGeom prst="line">
            <a:avLst/>
          </a:prstGeom>
          <a:ln w="15875">
            <a:solidFill>
              <a:schemeClr val="accent1">
                <a:lumMod val="75000"/>
                <a:alpha val="8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950CA0E-635B-46DC-8900-0DD2B472A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562856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3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3"/>
            <a:ext cx="10515600" cy="3545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1976FF6-0FAE-4806-A07E-BE4D7411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42FFD90-937D-4551-9F0C-7A5B0C78E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D25ED3-40D6-4D4C-BEF6-506E3E3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1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8FC83D-BE6C-46F7-A2C9-654DF8EB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33" y="1679441"/>
            <a:ext cx="10890565" cy="589966"/>
          </a:xfrm>
        </p:spPr>
        <p:txBody>
          <a:bodyPr>
            <a:normAutofit fontScale="90000"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C3F9D0-953E-45A7-BFD7-C86C68B2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726" y="2273661"/>
            <a:ext cx="7910623" cy="447630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endParaRPr lang="en-US" sz="16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36BCE2-FC35-4992-A912-AF5A5C4E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507004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AA409B-17E7-4D49-8F3B-D390302E24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4FB1A9C-83D8-426D-B62B-A5F7457A96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7920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DD44DD-0676-4A2C-9EC4-8E209307E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69BC53C-DA37-4270-B44D-B7A92152A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FE14D8-0C2B-4AA6-AE7E-75C2C63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9828424-127F-4F45-AF20-1DAA15255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D83CCE-F7E1-4106-84E1-6C261DDBB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8126735-73E8-4B98-81A3-AAE94B69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807AB57C-FB2F-4687-A53B-10BC93C06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811" y="2266497"/>
            <a:ext cx="2441448" cy="1682496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000D73B6-1C0A-4F47-AA94-E1B7667F20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09664" y="2276021"/>
            <a:ext cx="2441448" cy="1682496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35F208ED-C2A5-4E66-AD25-D5D7D73E6C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6094" y="2260823"/>
            <a:ext cx="2441448" cy="1682496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8C8C6B13-E352-4D69-9FB1-F92A36C33D3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217" y="2266497"/>
            <a:ext cx="2441448" cy="1682496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3C071B65-316E-4CAB-8D44-4F4A52024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085532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77C885E3-D5E0-4CBD-BA10-704E92E5FA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" y="4469611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9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EDF1E930-E006-4E8D-912E-5C7DE87EE7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4054" y="4095056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5C24456D-6FC8-4A02-A705-91CAD806F8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24053" y="4479135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9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B0AA21CB-553A-476D-9DBE-6B06618FE1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3595" y="4088244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B0CD8AA8-7148-4DD0-89BA-F4D140F241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23594" y="4472323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9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C99B4FF6-133C-4927-BD3D-357FBD13CB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21606" y="4085532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078286AF-2AD6-4303-884E-832045E59D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21605" y="4469611"/>
            <a:ext cx="2441448" cy="347662"/>
          </a:xfrm>
        </p:spPr>
        <p:txBody>
          <a:bodyPr lIns="146304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9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3229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AC2D8E-199B-430A-BB5F-3EB5B76D6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AAF529-3AC9-470F-8794-0C496708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3327F51-D49D-4DCE-9CDC-3B94731A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1B2486D-C49D-471B-8F3B-AF604894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F226F4B-CA41-4C71-97F3-1B7E442A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6A3FD-0E7B-4247-AA4F-93E7E99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3200400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800575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385125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66A9EA3-4B2B-44BD-8135-846BF6026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4" y="1802952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1C28FB9-37EE-45F6-9277-9FEC0E6CE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4" y="2387502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965917B-0400-40F0-91DA-4F97FE7238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64A176B-530D-46DF-8C22-CB3E325D3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64458CC-87E8-440C-A9E9-D8E1E0B49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0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D479CE-2DE1-4800-948F-385C3CF2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F2DE27B3-A066-47FC-9ACB-6CB080C4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ctr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B2E2283-471F-4157-98F4-1943DA1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1" y="2688119"/>
            <a:ext cx="5115674" cy="3507457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F58127D-BBD9-4655-BEA6-91021785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8272" y="65836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4E959CE-E323-4F7E-9D53-6DE5DD8650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8272" y="358444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F4C50B-50BD-44F1-9148-992E83F5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25809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764E3EF-900F-4400-84C4-63FBEBB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E1CB21E-42E2-4942-BCAD-66952AAB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BDF6841-1F86-481B-A857-4E5AC267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128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FD219BD-0F2E-4CDF-AEB4-C1D73E0F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1A909C9B-71E1-4575-BD94-8C51142F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3B6580BC-B32B-4393-8B19-2B3F6B90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07FB4E-AACE-4322-82D4-4DA4A81616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048" y="0"/>
            <a:ext cx="7616952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A4665-3BE9-407E-884C-8EA28708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2099" y="2302005"/>
            <a:ext cx="2253018" cy="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69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350" y="4846921"/>
            <a:ext cx="6632107" cy="951488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67985"/>
            <a:ext cx="6172200" cy="49930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B555E-8FF5-457E-B328-53ABDB5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64ED7-3275-4F98-88B1-4F083251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459"/>
            <a:ext cx="10515600" cy="434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BCFA-771C-4297-8ACE-974191C7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17DE-CC16-4596-92A2-460BC081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E724-AEC3-4D96-A62C-C286B703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1" r:id="rId4"/>
    <p:sldLayoutId id="2147483671" r:id="rId5"/>
    <p:sldLayoutId id="2147483670" r:id="rId6"/>
    <p:sldLayoutId id="2147483672" r:id="rId7"/>
    <p:sldLayoutId id="2147483654" r:id="rId8"/>
    <p:sldLayoutId id="2147483653" r:id="rId9"/>
    <p:sldLayoutId id="2147483667" r:id="rId10"/>
    <p:sldLayoutId id="2147483668" r:id="rId11"/>
    <p:sldLayoutId id="2147483669" r:id="rId12"/>
    <p:sldLayoutId id="2147483649" r:id="rId13"/>
    <p:sldLayoutId id="2147483651" r:id="rId14"/>
    <p:sldLayoutId id="2147483652" r:id="rId15"/>
    <p:sldLayoutId id="2147483655" r:id="rId16"/>
    <p:sldLayoutId id="2147483656" r:id="rId17"/>
    <p:sldLayoutId id="2147483657" r:id="rId1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2maps.eu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sentinelhub/50312840462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reativecommons.org/licenses/by/3.0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5A3385-7A97-4B91-90E4-313A5F648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Cropland Mapping For Cropland Classification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600243-42CA-42D2-A56A-C6924D272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875" y="4891446"/>
            <a:ext cx="3686447" cy="17907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Using Sentinel satellite data and machine learning</a:t>
            </a:r>
          </a:p>
          <a:p>
            <a:r>
              <a:rPr lang="en-US" dirty="0"/>
              <a:t>13/08/2025</a:t>
            </a:r>
          </a:p>
        </p:txBody>
      </p:sp>
      <p:pic>
        <p:nvPicPr>
          <p:cNvPr id="8" name="Picture Placeholder 7" descr="A picture containing trees, outdoor, forest, nature, mist">
            <a:extLst>
              <a:ext uri="{FF2B5EF4-FFF2-40B4-BE49-F238E27FC236}">
                <a16:creationId xmlns:a16="http://schemas.microsoft.com/office/drawing/2014/main" id="{E012FD38-BCDB-4D51-8DED-F3962AB9A4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4383024" y="0"/>
            <a:ext cx="7808976" cy="6858000"/>
          </a:xfrm>
        </p:spPr>
      </p:pic>
      <p:pic>
        <p:nvPicPr>
          <p:cNvPr id="2" name="Picture 1" descr="A collage of images of a desert landscape&#10;&#10;AI-generated content may be incorrect.">
            <a:extLst>
              <a:ext uri="{FF2B5EF4-FFF2-40B4-BE49-F238E27FC236}">
                <a16:creationId xmlns:a16="http://schemas.microsoft.com/office/drawing/2014/main" id="{A747F6B5-A6F5-AAA7-0574-6AE6B9726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397554" y="56073"/>
            <a:ext cx="7810740" cy="65158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721795-CB1D-B425-3880-D723F8C77C1B}"/>
              </a:ext>
            </a:extLst>
          </p:cNvPr>
          <p:cNvSpPr txBox="1"/>
          <p:nvPr/>
        </p:nvSpPr>
        <p:spPr>
          <a:xfrm>
            <a:off x="4397554" y="6471251"/>
            <a:ext cx="7810740" cy="4181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0576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DA98-38CB-ED49-5761-94A7557A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F7F68C-F8A4-189A-BAA2-5426058C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13" name="Picture Placeholder 12" descr="A picture containing tree, outdoor, forest, nature">
            <a:extLst>
              <a:ext uri="{FF2B5EF4-FFF2-40B4-BE49-F238E27FC236}">
                <a16:creationId xmlns:a16="http://schemas.microsoft.com/office/drawing/2014/main" id="{976849B6-370F-C46D-847C-771D7434C6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0" y="4160520"/>
            <a:ext cx="4067175" cy="2697480"/>
          </a:xfrm>
        </p:spPr>
      </p:pic>
      <p:pic>
        <p:nvPicPr>
          <p:cNvPr id="15" name="Picture Placeholder 14" descr="A close up of leaves with water droplets ">
            <a:extLst>
              <a:ext uri="{FF2B5EF4-FFF2-40B4-BE49-F238E27FC236}">
                <a16:creationId xmlns:a16="http://schemas.microsoft.com/office/drawing/2014/main" id="{5562CBC3-C0C5-40F5-6E98-87CBD108E0F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/>
        </p:blipFill>
        <p:spPr>
          <a:xfrm>
            <a:off x="4059936" y="4160520"/>
            <a:ext cx="4133088" cy="2697480"/>
          </a:xfrm>
        </p:spPr>
      </p:pic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776C1E4F-03E1-2950-81A0-172725E5F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pic>
        <p:nvPicPr>
          <p:cNvPr id="17" name="Picture Placeholder 16" descr="A close up of a green tree branch">
            <a:extLst>
              <a:ext uri="{FF2B5EF4-FFF2-40B4-BE49-F238E27FC236}">
                <a16:creationId xmlns:a16="http://schemas.microsoft.com/office/drawing/2014/main" id="{73E9A263-8547-BAE4-A118-D4D3E0A336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" r="48"/>
          <a:stretch/>
        </p:blipFill>
        <p:spPr>
          <a:xfrm>
            <a:off x="8193024" y="4160520"/>
            <a:ext cx="4005072" cy="2697480"/>
          </a:xfrm>
        </p:spPr>
      </p:pic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0190BCBE-58AF-95EE-3C37-263579AEF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DB31A0-F559-3C63-D30B-15F9DF5EA702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839788" y="2085951"/>
            <a:ext cx="1079419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urrent cropland maps in arid/semi-arid regions are often inaccurate.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uncertainty limits their usefulness for policy and planning.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Cropland areas can be visually similar to pasture and steppe land, making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reliable, up-to-date maps hinders food security planning and land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65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39E1-00A2-4A36-B095-E065A6DE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54E3C-306E-4FC5-A69F-6423F774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7570" y="773724"/>
            <a:ext cx="6401231" cy="3094892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900" dirty="0"/>
              <a:t>Accurately identify cropland in arid and semi-arid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900" dirty="0"/>
              <a:t>Use satellite imagery and geospatial data for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900" dirty="0"/>
              <a:t>Develop an automated model for cropland detection at pixel/region level.</a:t>
            </a:r>
          </a:p>
          <a:p>
            <a:endParaRPr lang="en-US" sz="29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Placeholder 8" descr="Close up picture of tree rings">
            <a:extLst>
              <a:ext uri="{FF2B5EF4-FFF2-40B4-BE49-F238E27FC236}">
                <a16:creationId xmlns:a16="http://schemas.microsoft.com/office/drawing/2014/main" id="{072D25A5-89BE-44C4-B28D-DA5455752A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12" y="4142232"/>
            <a:ext cx="2606040" cy="2075688"/>
          </a:xfrm>
        </p:spPr>
      </p:pic>
      <p:pic>
        <p:nvPicPr>
          <p:cNvPr id="11" name="Picture Placeholder 10" descr="A close up of a green tree branch with a baby pine cone">
            <a:extLst>
              <a:ext uri="{FF2B5EF4-FFF2-40B4-BE49-F238E27FC236}">
                <a16:creationId xmlns:a16="http://schemas.microsoft.com/office/drawing/2014/main" id="{29ECE34D-620F-4312-BB89-40BCDBDB250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6041" y="4142232"/>
            <a:ext cx="2606040" cy="2075688"/>
          </a:xfrm>
        </p:spPr>
      </p:pic>
      <p:pic>
        <p:nvPicPr>
          <p:cNvPr id="13" name="Picture Placeholder 12" descr="A close-up of tree bark">
            <a:extLst>
              <a:ext uri="{FF2B5EF4-FFF2-40B4-BE49-F238E27FC236}">
                <a16:creationId xmlns:a16="http://schemas.microsoft.com/office/drawing/2014/main" id="{5C2E09F6-794D-4CBA-A9C6-4460C18FC39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4570" y="4142232"/>
            <a:ext cx="2606040" cy="2075688"/>
          </a:xfrm>
        </p:spPr>
      </p:pic>
      <p:pic>
        <p:nvPicPr>
          <p:cNvPr id="15" name="Picture Placeholder 14" descr="A close up of a green tree branch">
            <a:extLst>
              <a:ext uri="{FF2B5EF4-FFF2-40B4-BE49-F238E27FC236}">
                <a16:creationId xmlns:a16="http://schemas.microsoft.com/office/drawing/2014/main" id="{4A4FF327-FD26-47EF-A265-02A0BB3793C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13100" y="4142232"/>
            <a:ext cx="2606040" cy="2075688"/>
          </a:xfrm>
        </p:spPr>
      </p:pic>
      <p:sp>
        <p:nvSpPr>
          <p:cNvPr id="75" name="Footer Placeholder 74">
            <a:extLst>
              <a:ext uri="{FF2B5EF4-FFF2-40B4-BE49-F238E27FC236}">
                <a16:creationId xmlns:a16="http://schemas.microsoft.com/office/drawing/2014/main" id="{CF942400-E869-4121-A513-9B1FADE55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76" name="Slide Number Placeholder 75">
            <a:extLst>
              <a:ext uri="{FF2B5EF4-FFF2-40B4-BE49-F238E27FC236}">
                <a16:creationId xmlns:a16="http://schemas.microsoft.com/office/drawing/2014/main" id="{4FCE912F-09D6-4C14-A807-126C32B03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3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046C-7161-3D4C-DD29-656A8E04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3A4A-51C1-9795-32BA-D8F896BB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Understanding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D6D4D-70DC-A844-A07D-67AF24E0C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83104"/>
            <a:ext cx="5430129" cy="417489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Links to food security, environmental monitoring and climate resilience.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Climate change is expanding dry lands.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Need for data-driven agricultural monitoring tools.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Combine AI technical interest with real-world impact.</a:t>
            </a:r>
          </a:p>
        </p:txBody>
      </p:sp>
      <p:pic>
        <p:nvPicPr>
          <p:cNvPr id="6" name="Picture Placeholder 5" descr="A picture containing trees, outdoor, forest, nature, mist">
            <a:extLst>
              <a:ext uri="{FF2B5EF4-FFF2-40B4-BE49-F238E27FC236}">
                <a16:creationId xmlns:a16="http://schemas.microsoft.com/office/drawing/2014/main" id="{49805B33-0B0A-28FD-F846-4718954557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2" r="29212"/>
          <a:stretch/>
        </p:blipFill>
        <p:spPr>
          <a:xfrm>
            <a:off x="5500468" y="0"/>
            <a:ext cx="6691532" cy="6858000"/>
          </a:xfrm>
        </p:spPr>
      </p:pic>
    </p:spTree>
    <p:extLst>
      <p:ext uri="{BB962C8B-B14F-4D97-AF65-F5344CB8AC3E}">
        <p14:creationId xmlns:p14="http://schemas.microsoft.com/office/powerpoint/2010/main" val="138599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1ABD-BC11-F95B-EEB2-E90C7634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3911-DBC3-D09A-14B8-B2B5BCB7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BE9F9-3539-7886-ABA7-3F8B9BC5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83104"/>
            <a:ext cx="6133513" cy="405532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Multi-temporal Sentinel-1 (SAR) and Sentinel-2 (optical) imagery.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Labelled training data for cropland classification.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Sentinel-1: Radar reflectance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Sentinel-2 : Optical reflectance data.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Geographic focus : Fergana and Orenburg regions.</a:t>
            </a:r>
          </a:p>
        </p:txBody>
      </p:sp>
      <p:pic>
        <p:nvPicPr>
          <p:cNvPr id="6" name="Picture Placeholder 5" descr="A picture containing trees, outdoor, forest, nature, mist">
            <a:extLst>
              <a:ext uri="{FF2B5EF4-FFF2-40B4-BE49-F238E27FC236}">
                <a16:creationId xmlns:a16="http://schemas.microsoft.com/office/drawing/2014/main" id="{804A50F7-88CB-CE2C-4BC3-A3FA4364FD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12" r="29212"/>
          <a:stretch/>
        </p:blipFill>
        <p:spPr>
          <a:xfrm>
            <a:off x="6133514" y="0"/>
            <a:ext cx="6058486" cy="6858000"/>
          </a:xfrm>
        </p:spPr>
      </p:pic>
    </p:spTree>
    <p:extLst>
      <p:ext uri="{BB962C8B-B14F-4D97-AF65-F5344CB8AC3E}">
        <p14:creationId xmlns:p14="http://schemas.microsoft.com/office/powerpoint/2010/main" val="142315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E88BB9-5E8A-474F-B7C0-BC6738C2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pic>
        <p:nvPicPr>
          <p:cNvPr id="13" name="Picture Placeholder 12" descr="A picture containing tree, outdoor, forest, nature">
            <a:extLst>
              <a:ext uri="{FF2B5EF4-FFF2-40B4-BE49-F238E27FC236}">
                <a16:creationId xmlns:a16="http://schemas.microsoft.com/office/drawing/2014/main" id="{28CD82BD-20D4-4910-9A71-4B534FCE62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0" y="4160520"/>
            <a:ext cx="4067175" cy="2697480"/>
          </a:xfrm>
        </p:spPr>
      </p:pic>
      <p:pic>
        <p:nvPicPr>
          <p:cNvPr id="15" name="Picture Placeholder 14" descr="A close up of leaves with water droplets ">
            <a:extLst>
              <a:ext uri="{FF2B5EF4-FFF2-40B4-BE49-F238E27FC236}">
                <a16:creationId xmlns:a16="http://schemas.microsoft.com/office/drawing/2014/main" id="{34C758CA-99BE-4230-9424-008948EC32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/>
        </p:blipFill>
        <p:spPr>
          <a:xfrm>
            <a:off x="4059936" y="4160520"/>
            <a:ext cx="4133088" cy="2697480"/>
          </a:xfrm>
        </p:spPr>
      </p:pic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32ABAB91-7623-454A-93BD-560C00AB8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pic>
        <p:nvPicPr>
          <p:cNvPr id="17" name="Picture Placeholder 16" descr="A close up of a green tree branch">
            <a:extLst>
              <a:ext uri="{FF2B5EF4-FFF2-40B4-BE49-F238E27FC236}">
                <a16:creationId xmlns:a16="http://schemas.microsoft.com/office/drawing/2014/main" id="{B0A1EFCE-676C-4616-ABD3-11F042604AA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" r="48"/>
          <a:stretch/>
        </p:blipFill>
        <p:spPr>
          <a:xfrm>
            <a:off x="8193024" y="4160520"/>
            <a:ext cx="4005072" cy="2697480"/>
          </a:xfrm>
        </p:spPr>
      </p:pic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F09696C5-2D5D-4774-8ED7-53F2BB60D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A94244-8076-B704-BAF8-84CEF8020332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839788" y="2215624"/>
            <a:ext cx="450200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Null values and duplicates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</a:rPr>
              <a:t>One-hot encoding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Applied tokenization.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Dealt with class imbalance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3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481B-885E-7049-34F6-EE0EC4F9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A5E2-44B3-02EA-F840-D8E4A0AFE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18118"/>
            <a:ext cx="5683347" cy="3838232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/>
              <a:t>We implemented multiple classification models: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Random Forest.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Neural networks.</a:t>
            </a:r>
          </a:p>
          <a:p>
            <a:pPr algn="l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362CB90-672B-4487-CE94-17F1F583C9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888" y="0"/>
            <a:ext cx="6396111" cy="6858000"/>
          </a:xfrm>
        </p:spPr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B1A40-58EE-F931-2BDF-A8FF8B5E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BC943-E986-159A-0EC3-41105040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DB10D-9DF1-72B3-3AD8-F6775EB31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81822" y="-1"/>
            <a:ext cx="6410178" cy="6858001"/>
          </a:xfrm>
          <a:prstGeom prst="rect">
            <a:avLst/>
          </a:prstGeom>
          <a:solidFill>
            <a:srgbClr val="003300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CB62CB-AAA3-2164-31F7-BF8C14662C00}"/>
              </a:ext>
            </a:extLst>
          </p:cNvPr>
          <p:cNvSpPr txBox="1"/>
          <p:nvPr/>
        </p:nvSpPr>
        <p:spPr>
          <a:xfrm>
            <a:off x="7310512" y="6627168"/>
            <a:ext cx="4881488" cy="230832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flickr.com/photos/sentinelhub/50312840462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05816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0755-9A81-4C2A-9F48-7B0CF685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</p:spPr>
        <p:txBody>
          <a:bodyPr/>
          <a:lstStyle/>
          <a:p>
            <a:r>
              <a:rPr lang="en-US" dirty="0"/>
              <a:t>Results Comparison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A3CB281-FC28-410A-93F9-208657F54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975708"/>
              </p:ext>
            </p:extLst>
          </p:nvPr>
        </p:nvGraphicFramePr>
        <p:xfrm>
          <a:off x="177800" y="2006599"/>
          <a:ext cx="9428480" cy="418318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357120">
                  <a:extLst>
                    <a:ext uri="{9D8B030D-6E8A-4147-A177-3AD203B41FA5}">
                      <a16:colId xmlns:a16="http://schemas.microsoft.com/office/drawing/2014/main" val="296719321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974205831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1960624298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1953531766"/>
                    </a:ext>
                  </a:extLst>
                </a:gridCol>
              </a:tblGrid>
              <a:tr h="10457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435894"/>
                  </a:ext>
                </a:extLst>
              </a:tr>
              <a:tr h="10457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64.24</a:t>
                      </a: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418749"/>
                  </a:ext>
                </a:extLst>
              </a:tr>
              <a:tr h="104579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65.02</a:t>
                      </a:r>
                    </a:p>
                  </a:txBody>
                  <a:tcPr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91997"/>
                  </a:ext>
                </a:extLst>
              </a:tr>
              <a:tr h="10457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697052"/>
                  </a:ext>
                </a:extLst>
              </a:tr>
            </a:tbl>
          </a:graphicData>
        </a:graphic>
      </p:graphicFrame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28028286-6D89-4643-8D1B-E6F515814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66335940-4EDC-4550-8115-003BDF496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986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D9BD-DC27-46DC-9C76-8EE3FDD4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07C5A-A4E9-45ED-911E-BBC9E9339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models can effectively classify cropland in arid/semi-arid areas.</a:t>
            </a:r>
          </a:p>
          <a:p>
            <a:r>
              <a:rPr lang="en-US" dirty="0"/>
              <a:t>Neural Network performed best among tested models.</a:t>
            </a:r>
          </a:p>
          <a:p>
            <a:r>
              <a:rPr lang="en-US" dirty="0"/>
              <a:t>Integrating Sentinel-1 and Sentinel-2 imagery improves accuracy.</a:t>
            </a:r>
          </a:p>
          <a:p>
            <a:r>
              <a:rPr lang="en-US" dirty="0"/>
              <a:t>Methodology can be adapted for other geographic regions.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E8F197E9-9EE5-4C27-93B9-2E44E0ED5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8D0E8400-C1CB-4DB2-BF78-421C9EECD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126B5-1539-4976-8B35-3D195863C0B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008813" y="2390775"/>
            <a:ext cx="5183187" cy="3751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60201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DAC4-BCFB-42F6-BA9A-039BB65B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941B7-49D8-4ECD-BBC8-6588DECB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20" y="2616592"/>
            <a:ext cx="6061221" cy="409369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Expand dataset to cover more regions and seasons.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Test deep learning models for potentially higher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 additional environmental data (e.g., soil, climate).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Collaborate with agricultural agencies for real-world validation.</a:t>
            </a:r>
          </a:p>
        </p:txBody>
      </p:sp>
      <p:pic>
        <p:nvPicPr>
          <p:cNvPr id="7" name="Picture Placeholder 6" descr="A picture containing trees, outdoor, forest, nature, mist">
            <a:extLst>
              <a:ext uri="{FF2B5EF4-FFF2-40B4-BE49-F238E27FC236}">
                <a16:creationId xmlns:a16="http://schemas.microsoft.com/office/drawing/2014/main" id="{67622E7C-99A9-46F7-8DC6-CB21DE6130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8272" y="658368"/>
            <a:ext cx="4809744" cy="2606040"/>
          </a:xfrm>
        </p:spPr>
      </p:pic>
      <p:pic>
        <p:nvPicPr>
          <p:cNvPr id="9" name="Picture Placeholder 8" descr="A close up of a green tree branch with a baby pine cone">
            <a:extLst>
              <a:ext uri="{FF2B5EF4-FFF2-40B4-BE49-F238E27FC236}">
                <a16:creationId xmlns:a16="http://schemas.microsoft.com/office/drawing/2014/main" id="{43702E36-1B89-4AF5-B77B-B83BE9FCC95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8272" y="3584448"/>
            <a:ext cx="4809744" cy="3273552"/>
          </a:xfrm>
        </p:spPr>
      </p:pic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381B4F17-2538-4C37-AA9B-B8EBF5C89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 flipV="1">
            <a:off x="8736036" y="6274190"/>
            <a:ext cx="1519311" cy="393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5BF29222-3F80-4F2B-90CE-3D40FFF16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76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E449-E96C-4E0E-A449-9E0701A9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F7967-21CD-4D4E-A475-5040D50F9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</p:spPr>
        <p:txBody>
          <a:bodyPr>
            <a:normAutofit/>
          </a:bodyPr>
          <a:lstStyle/>
          <a:p>
            <a:r>
              <a:rPr lang="en-US" dirty="0"/>
              <a:t>James Wachira</a:t>
            </a:r>
          </a:p>
          <a:p>
            <a:r>
              <a:rPr lang="en-US" dirty="0"/>
              <a:t>Tim Musungu</a:t>
            </a:r>
          </a:p>
          <a:p>
            <a:r>
              <a:rPr lang="en-US" dirty="0"/>
              <a:t>Vivian Kwamboka</a:t>
            </a:r>
          </a:p>
          <a:p>
            <a:r>
              <a:rPr lang="en-US" dirty="0"/>
              <a:t>Calvin Mutua</a:t>
            </a:r>
          </a:p>
          <a:p>
            <a:r>
              <a:rPr lang="en-US" dirty="0"/>
              <a:t>Ibrahim Hashim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6" name="Picture Placeholder 5" descr="forest">
            <a:extLst>
              <a:ext uri="{FF2B5EF4-FFF2-40B4-BE49-F238E27FC236}">
                <a16:creationId xmlns:a16="http://schemas.microsoft.com/office/drawing/2014/main" id="{474772FB-EF5F-44F3-8C06-F39CA59EF5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5175" y="0"/>
            <a:ext cx="7616825" cy="6858000"/>
          </a:xfrm>
        </p:spPr>
      </p:pic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11F0E6E0-DC32-4105-A773-65DCBEED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95B4304-0747-4AD1-BD3D-E4BFD544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7044"/>
      </p:ext>
    </p:extLst>
  </p:cSld>
  <p:clrMapOvr>
    <a:masterClrMapping/>
  </p:clrMapOvr>
</p:sld>
</file>

<file path=ppt/theme/theme1.xml><?xml version="1.0" encoding="utf-8"?>
<a:theme xmlns:a="http://schemas.openxmlformats.org/drawingml/2006/main" name="PineVTI">
  <a:themeElements>
    <a:clrScheme name="Pine">
      <a:dk1>
        <a:sysClr val="windowText" lastClr="000000"/>
      </a:dk1>
      <a:lt1>
        <a:sysClr val="window" lastClr="FFFFFF"/>
      </a:lt1>
      <a:dk2>
        <a:srgbClr val="081B19"/>
      </a:dk2>
      <a:lt2>
        <a:srgbClr val="E2D4CA"/>
      </a:lt2>
      <a:accent1>
        <a:srgbClr val="415347"/>
      </a:accent1>
      <a:accent2>
        <a:srgbClr val="753E33"/>
      </a:accent2>
      <a:accent3>
        <a:srgbClr val="7B614F"/>
      </a:accent3>
      <a:accent4>
        <a:srgbClr val="827B6D"/>
      </a:accent4>
      <a:accent5>
        <a:srgbClr val="495255"/>
      </a:accent5>
      <a:accent6>
        <a:srgbClr val="2D5358"/>
      </a:accent6>
      <a:hlink>
        <a:srgbClr val="A8705D"/>
      </a:hlink>
      <a:folHlink>
        <a:srgbClr val="5B688B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neVTI" id="{14D52F43-08F7-4BCB-8A4A-FBED84E2C440}" vid="{D076F849-C9D7-4142-B46C-46BAC587EA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AEE90C5-1E1C-444C-A570-923DC6A547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FF5174-EF46-4DB3-9E31-B6FFE71C18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577EAC-B6FB-4CBD-9524-1AB1B096FD3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_PineVTI</Template>
  <TotalTime>153</TotalTime>
  <Words>361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Dante</vt:lpstr>
      <vt:lpstr>PineVTI</vt:lpstr>
      <vt:lpstr>Cropland Mapping For Cropland Classification</vt:lpstr>
      <vt:lpstr>Problem Statement</vt:lpstr>
      <vt:lpstr>Objectives</vt:lpstr>
      <vt:lpstr>Business Understanding</vt:lpstr>
      <vt:lpstr>Data Understanding</vt:lpstr>
      <vt:lpstr>Data Preprocessing</vt:lpstr>
      <vt:lpstr>Modeling</vt:lpstr>
      <vt:lpstr>Results Comparison</vt:lpstr>
      <vt:lpstr>Conclusion</vt:lpstr>
      <vt:lpstr>Recommendations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James mwangi</cp:lastModifiedBy>
  <cp:revision>40</cp:revision>
  <dcterms:created xsi:type="dcterms:W3CDTF">2025-08-11T19:57:51Z</dcterms:created>
  <dcterms:modified xsi:type="dcterms:W3CDTF">2025-08-13T12:43:55Z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